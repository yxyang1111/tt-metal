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24693" y="1258214"/>
            <a:ext cx="895380" cy="91249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C4B5F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77391" y="1258214"/>
            <a:ext cx="895380" cy="91249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C4B5F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4984" y="2048255"/>
            <a:ext cx="3107496" cy="829543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7681" y="2048255"/>
            <a:ext cx="3107496" cy="829543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84832" y="1106789"/>
            <a:ext cx="1975104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00" b="0">
                <a:solidFill>
                  <a:srgbClr val="6D28D9"/>
                </a:solidFill>
                <a:latin typeface="Consolas"/>
              </a:rPr>
              <a:t>Left IO / DRAM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7529" y="1106789"/>
            <a:ext cx="1975104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00" b="0">
                <a:solidFill>
                  <a:srgbClr val="6D28D9"/>
                </a:solidFill>
                <a:latin typeface="Consolas"/>
              </a:rPr>
              <a:t>Center DRAM spine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1180" y="1106789"/>
            <a:ext cx="1975104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D4ED8"/>
                </a:solidFill>
                <a:latin typeface="Consolas"/>
              </a:rPr>
              <a:t>Left Tensix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3878" y="1106789"/>
            <a:ext cx="1975104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00" b="0">
                <a:solidFill>
                  <a:srgbClr val="1D4ED8"/>
                </a:solidFill>
                <a:latin typeface="Consolas"/>
              </a:rPr>
              <a:t>Right Tensix 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63553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0710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739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1249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4279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1789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4818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2328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5358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2868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5897" y="1363553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6437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947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6976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4487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7516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5026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98055" y="1363553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5566" y="1626900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2114092"/>
            <a:ext cx="658368" cy="658368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09036" y="2298435"/>
            <a:ext cx="526694" cy="1580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392B"/>
                </a:solidFill>
                <a:latin typeface="Consolas"/>
              </a:rPr>
              <a:t>DV1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9036" y="2456444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C0392B"/>
                </a:solidFill>
                <a:latin typeface="Consolas"/>
              </a:rPr>
              <a:t>Lane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3739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9576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(1,1)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9576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B91C1C"/>
                </a:solidFill>
                <a:latin typeface="Consolas"/>
              </a:rPr>
              <a:t>Lsrc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9576" y="2561783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OUT[0]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44279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0115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(2,1)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0115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0115" y="2561783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OUT[1]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94818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60655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(3,1)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60655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60655" y="2561783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OUT[2]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45358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11194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(4,1)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1194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1194" y="2561783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OUT[3]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5897" y="2114092"/>
            <a:ext cx="658368" cy="658368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1734" y="2298435"/>
            <a:ext cx="526694" cy="1580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1A7A3E"/>
                </a:solidFill>
                <a:latin typeface="Consolas"/>
              </a:rPr>
              <a:t>DV4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1734" y="2456444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1A7A3E"/>
                </a:solidFill>
                <a:latin typeface="Consolas"/>
              </a:rPr>
              <a:t>Lane 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46437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2273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(6,1)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2273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B91C1C"/>
                </a:solidFill>
                <a:latin typeface="Consolas"/>
              </a:rPr>
              <a:t>Lsrc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96976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2813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(7,1)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62813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47516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13352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(8,1)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13352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98055" y="211409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63892" y="221284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(9,1)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63892" y="23774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43200" y="2864632"/>
            <a:ext cx="658368" cy="6583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7F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40710" y="3127979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F868F"/>
                </a:solidFill>
                <a:latin typeface="Consolas"/>
              </a:rPr>
              <a:t>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93739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59576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(1,2)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59576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59576" y="3312322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OUT[4]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44279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10115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(2,2)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0115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10115" y="3312322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OUT[5]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94818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60655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(3,2)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60655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60655" y="3312322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OUT[6]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745358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11194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(4,2)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11194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11194" y="3312322"/>
            <a:ext cx="526694" cy="1185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E40AF"/>
                </a:solidFill>
                <a:latin typeface="Consolas"/>
              </a:rPr>
              <a:t>OUT[7]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95897" y="2864632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93408" y="3127979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46437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12273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(6,2)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2273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w4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996976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62813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(7,2)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62813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w5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747516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813352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(8,2)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13352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w6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498055" y="2864632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563892" y="296338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(9,2)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63892" y="312797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w7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743200" y="3615171"/>
            <a:ext cx="658368" cy="658368"/>
          </a:xfrm>
          <a:prstGeom prst="roundRect">
            <a:avLst/>
          </a:prstGeom>
          <a:solidFill>
            <a:srgbClr val="F5E6D3"/>
          </a:solidFill>
          <a:ln w="12700">
            <a:solidFill>
              <a:srgbClr val="C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40710" y="3878519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C4944E"/>
                </a:solidFill>
                <a:latin typeface="Consolas"/>
              </a:rPr>
              <a:t>P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93739" y="3615171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91249" y="3878519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244279" y="3615171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41789" y="3878519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994818" y="3615171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92328" y="3878519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745358" y="3615171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42868" y="3878519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495897" y="3615171"/>
            <a:ext cx="658368" cy="658368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61734" y="3799514"/>
            <a:ext cx="526694" cy="1580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2471A3"/>
                </a:solidFill>
                <a:latin typeface="Consolas"/>
              </a:rPr>
              <a:t>DV9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61734" y="3957523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2471A3"/>
                </a:solidFill>
                <a:latin typeface="Consolas"/>
              </a:rPr>
              <a:t>Lane 5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246437" y="361517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12273" y="371392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(6,3)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2273" y="387851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B91C1C"/>
                </a:solidFill>
                <a:latin typeface="Consolas"/>
              </a:rPr>
              <a:t>Lsrc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996976" y="361517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62813" y="371392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(7,3)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62813" y="387851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w1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747516" y="361517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813352" y="371392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(8,3)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13352" y="387851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498055" y="361517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63892" y="3713927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(9,3)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63892" y="387851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w3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743200" y="4365711"/>
            <a:ext cx="658368" cy="6583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7F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40710" y="4629058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F868F"/>
                </a:solidFill>
                <a:latin typeface="Consolas"/>
              </a:rPr>
              <a:t>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493739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59576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(1,4)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59576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B91C1C"/>
                </a:solidFill>
                <a:latin typeface="Consolas"/>
              </a:rPr>
              <a:t>Lsrc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244279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10115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(2,4)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310115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994818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60655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(3,4)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60655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w2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745358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811194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(4,4)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11194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95897" y="4365711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93408" y="4629058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246437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312273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(6,4)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312273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996976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062813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(7,4)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62813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w5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747516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813352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(8,4)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813352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w6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498055" y="4365711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563892" y="446446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(9,4)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563892" y="462905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743200" y="5116250"/>
            <a:ext cx="658368" cy="658368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809036" y="5300593"/>
            <a:ext cx="526694" cy="1580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D4770B"/>
                </a:solidFill>
                <a:latin typeface="Consolas"/>
              </a:rPr>
              <a:t>DV2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809036" y="5458602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D4770B"/>
                </a:solidFill>
                <a:latin typeface="Consolas"/>
              </a:rPr>
              <a:t>Lane 2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493739" y="5116250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559576" y="521500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(1,5)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59576" y="537959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w4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244279" y="5116250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310115" y="521500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(2,5)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10115" y="537959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w5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994818" y="5116250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060655" y="521500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(3,5)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60655" y="537959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w6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745358" y="5116250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7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811194" y="5215006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(4,5)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811194" y="5379598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w7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495897" y="5116250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693408" y="5379598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246437" y="5116250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43947" y="5379598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996976" y="5116250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194487" y="5379598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747516" y="5116250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945026" y="5379598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498055" y="5116250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695566" y="5379598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743200" y="5866790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940710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3493739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691249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244279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441789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994818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192328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745358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942868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495897" y="5866790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693408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246437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443947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7996976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194487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747516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945026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498055" y="5866790"/>
            <a:ext cx="658368" cy="658368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695566" y="613013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B8CA0"/>
                </a:solidFill>
                <a:latin typeface="Consolas"/>
              </a:rPr>
              <a:t>E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2743200" y="6617329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940710" y="688067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3493739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559576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(1,7)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559576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B91C1C"/>
                </a:solidFill>
                <a:latin typeface="Consolas"/>
              </a:rPr>
              <a:t>Lsrc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244279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310115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(2,7)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310115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w1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994818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060655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(3,7)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060655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745358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811194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(4,7)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811194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w3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495897" y="6617329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693408" y="6880677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7246437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312273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(6,7)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312273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B91C1C"/>
                </a:solidFill>
                <a:latin typeface="Consolas"/>
              </a:rPr>
              <a:t>Lsrc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7996976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62813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(7,7)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062813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w1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8747516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813352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(8,7)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813352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9498055" y="661732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9563892" y="6716085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(9,7)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563892" y="6880677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w3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2743200" y="7367869"/>
            <a:ext cx="658368" cy="6583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7F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940710" y="763121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F868F"/>
                </a:solidFill>
                <a:latin typeface="Consolas"/>
              </a:rPr>
              <a:t>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3493739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3559576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(1,8)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559576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w4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4244279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310115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(2,8)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310115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w5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994818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060655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(3,8)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060655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w6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5745358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811194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(4,8)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811194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w7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6495897" y="7367869"/>
            <a:ext cx="658368" cy="658368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561734" y="7552212"/>
            <a:ext cx="526694" cy="1580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7D3C98"/>
                </a:solidFill>
                <a:latin typeface="Consolas"/>
              </a:rPr>
              <a:t>DV8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561734" y="7710220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7D3C98"/>
                </a:solidFill>
                <a:latin typeface="Consolas"/>
              </a:rPr>
              <a:t>Lane 6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7246437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312273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(6,8)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12273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w4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996976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062813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(7,8)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062813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w5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8747516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813352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(8,8)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813352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w6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498055" y="7367869"/>
            <a:ext cx="658368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563892" y="7466624"/>
            <a:ext cx="526694" cy="1316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400" b="0">
                <a:solidFill>
                  <a:srgbClr val="6B7280"/>
                </a:solidFill>
                <a:latin typeface="Consolas"/>
              </a:rPr>
              <a:t>(9,8)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563892" y="7631216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4B5563"/>
                </a:solidFill>
                <a:latin typeface="Consolas"/>
              </a:rPr>
              <a:t>w7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2743200" y="8118408"/>
            <a:ext cx="658368" cy="6583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7F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2940710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7F868F"/>
                </a:solidFill>
                <a:latin typeface="Consolas"/>
              </a:rPr>
              <a:t>R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3493739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691249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4244279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441789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4994818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5192328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5745358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5942868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6495897" y="8118408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693408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7246437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7443947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7996976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194487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8747516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8945026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9498055" y="811840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695566" y="8381756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2743200" y="8868948"/>
            <a:ext cx="658368" cy="658368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52A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940710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52A852"/>
                </a:solidFill>
                <a:latin typeface="Consolas"/>
              </a:rPr>
              <a:t>A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3493739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3691249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4244279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4441789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4994818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192328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5745358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5942868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6495897" y="8868948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6693408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7246437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443947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7996976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8194487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8747516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8945026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9498055" y="886894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9695566" y="913229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2743200" y="9619488"/>
            <a:ext cx="658368" cy="658368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2809036" y="9803831"/>
            <a:ext cx="526694" cy="1580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9A7D0A"/>
                </a:solidFill>
                <a:latin typeface="Consolas"/>
              </a:rPr>
              <a:t>DV0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2809036" y="9961839"/>
            <a:ext cx="526694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9A7D0A"/>
                </a:solidFill>
                <a:latin typeface="Consolas"/>
              </a:rPr>
              <a:t>Lane 3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3493739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3691249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4244279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4441789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4994818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5192328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5745358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5942868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6495897" y="9619488"/>
            <a:ext cx="658368" cy="658368"/>
          </a:xfrm>
          <a:prstGeom prst="roundRect">
            <a:avLst/>
          </a:prstGeom>
          <a:solidFill>
            <a:srgbClr val="ECE5F3"/>
          </a:solidFill>
          <a:ln w="1270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693408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B6F9E"/>
                </a:solidFill>
                <a:latin typeface="Consolas"/>
              </a:rPr>
              <a:t>D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7246437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7443947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306" name="Rounded Rectangle 305"/>
          <p:cNvSpPr/>
          <p:nvPr/>
        </p:nvSpPr>
        <p:spPr>
          <a:xfrm>
            <a:off x="7996976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8194487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308" name="Rounded Rectangle 307"/>
          <p:cNvSpPr/>
          <p:nvPr/>
        </p:nvSpPr>
        <p:spPr>
          <a:xfrm>
            <a:off x="8747516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8945026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9498055" y="9619488"/>
            <a:ext cx="658368" cy="658368"/>
          </a:xfrm>
          <a:prstGeom prst="roundRect">
            <a:avLst/>
          </a:prstGeom>
          <a:solidFill>
            <a:srgbClr val="E8ECF1"/>
          </a:solidFill>
          <a:ln w="1270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9695566" y="9882835"/>
            <a:ext cx="263347" cy="144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b="0">
                <a:solidFill>
                  <a:srgbClr val="9BA8BA"/>
                </a:solidFill>
                <a:latin typeface="Consolas"/>
              </a:rPr>
              <a:t>T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3421319" y="2041672"/>
            <a:ext cx="3054827" cy="1553748"/>
          </a:xfrm>
          <a:prstGeom prst="roundRect">
            <a:avLst/>
          </a:prstGeom>
          <a:noFill/>
          <a:ln w="25400">
            <a:solidFill>
              <a:srgbClr val="C039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3631996" y="1791492"/>
            <a:ext cx="2633472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Consolas"/>
              </a:rPr>
              <a:t>Lane 1  (DV1)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3421319" y="4293290"/>
            <a:ext cx="3054827" cy="1553748"/>
          </a:xfrm>
          <a:prstGeom prst="roundRect">
            <a:avLst/>
          </a:prstGeom>
          <a:noFill/>
          <a:ln w="25400">
            <a:solidFill>
              <a:srgbClr val="D477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3631996" y="4043111"/>
            <a:ext cx="2633472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4770B"/>
                </a:solidFill>
                <a:latin typeface="Consolas"/>
              </a:rPr>
              <a:t>Lane 2  (DV2)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3421319" y="6544909"/>
            <a:ext cx="3054827" cy="1553748"/>
          </a:xfrm>
          <a:prstGeom prst="roundRect">
            <a:avLst/>
          </a:prstGeom>
          <a:noFill/>
          <a:ln w="25400">
            <a:solidFill>
              <a:srgbClr val="9A7D0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631996" y="6294729"/>
            <a:ext cx="2633472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7D0A"/>
                </a:solidFill>
                <a:latin typeface="Consolas"/>
              </a:rPr>
              <a:t>Lane 3  (DV0)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7174016" y="2041672"/>
            <a:ext cx="3054827" cy="1553748"/>
          </a:xfrm>
          <a:prstGeom prst="roundRect">
            <a:avLst/>
          </a:prstGeom>
          <a:noFill/>
          <a:ln w="25400">
            <a:solidFill>
              <a:srgbClr val="1A7A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384694" y="1791492"/>
            <a:ext cx="2633472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A7A3E"/>
                </a:solidFill>
                <a:latin typeface="Consolas"/>
              </a:rPr>
              <a:t>Lane 4  (DV4)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7174016" y="3542751"/>
            <a:ext cx="3054827" cy="1553748"/>
          </a:xfrm>
          <a:prstGeom prst="roundRect">
            <a:avLst/>
          </a:prstGeom>
          <a:noFill/>
          <a:ln w="25400">
            <a:solidFill>
              <a:srgbClr val="2471A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7384694" y="3292571"/>
            <a:ext cx="2633472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471A3"/>
                </a:solidFill>
                <a:latin typeface="Consolas"/>
              </a:rPr>
              <a:t>Lane 5  (DV9)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7174016" y="6544909"/>
            <a:ext cx="3054827" cy="1553748"/>
          </a:xfrm>
          <a:prstGeom prst="roundRect">
            <a:avLst/>
          </a:prstGeom>
          <a:noFill/>
          <a:ln w="25400">
            <a:solidFill>
              <a:srgbClr val="7D3C9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7384694" y="6294729"/>
            <a:ext cx="2633472" cy="197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D3C98"/>
                </a:solidFill>
                <a:latin typeface="Consolas"/>
              </a:rPr>
              <a:t>Lane 6  (DV8)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3072384" y="2443276"/>
            <a:ext cx="750539" cy="0"/>
          </a:xfrm>
          <a:prstGeom prst="line">
            <a:avLst/>
          </a:prstGeom>
          <a:ln w="3175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3072384" y="4694895"/>
            <a:ext cx="750539" cy="750539"/>
          </a:xfrm>
          <a:prstGeom prst="line">
            <a:avLst/>
          </a:prstGeom>
          <a:ln w="3175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3072384" y="6946513"/>
            <a:ext cx="750539" cy="3002159"/>
          </a:xfrm>
          <a:prstGeom prst="line">
            <a:avLst/>
          </a:prstGeom>
          <a:ln w="3175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6825081" y="2443276"/>
            <a:ext cx="750540" cy="0"/>
          </a:xfrm>
          <a:prstGeom prst="line">
            <a:avLst/>
          </a:prstGeom>
          <a:ln w="3175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6825081" y="3944355"/>
            <a:ext cx="750540" cy="0"/>
          </a:xfrm>
          <a:prstGeom prst="line">
            <a:avLst/>
          </a:prstGeom>
          <a:ln w="3175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6825081" y="6946513"/>
            <a:ext cx="750540" cy="750540"/>
          </a:xfrm>
          <a:prstGeom prst="line">
            <a:avLst/>
          </a:prstGeom>
          <a:ln w="3175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3822923" y="2443276"/>
            <a:ext cx="750540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3822923" y="2443276"/>
            <a:ext cx="150107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3822923" y="2443276"/>
            <a:ext cx="225161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3822923" y="2443276"/>
            <a:ext cx="0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3822923" y="2443276"/>
            <a:ext cx="750540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3822923" y="2443276"/>
            <a:ext cx="150107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3822923" y="2443276"/>
            <a:ext cx="225161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3822923" y="4694895"/>
            <a:ext cx="750540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3822923" y="4694895"/>
            <a:ext cx="150107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3822923" y="4694895"/>
            <a:ext cx="225161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3822923" y="4694895"/>
            <a:ext cx="0" cy="750539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3822923" y="4694895"/>
            <a:ext cx="750540" cy="750539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3822923" y="4694895"/>
            <a:ext cx="1501079" cy="750539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3822923" y="4694895"/>
            <a:ext cx="2251619" cy="750539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3822923" y="6946513"/>
            <a:ext cx="750540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3822923" y="6946513"/>
            <a:ext cx="150107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3822923" y="6946513"/>
            <a:ext cx="225161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3822923" y="6946513"/>
            <a:ext cx="0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3822923" y="6946513"/>
            <a:ext cx="750540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3822923" y="6946513"/>
            <a:ext cx="150107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3822923" y="6946513"/>
            <a:ext cx="225161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7575621" y="2443276"/>
            <a:ext cx="75053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7575621" y="2443276"/>
            <a:ext cx="150107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7575621" y="2443276"/>
            <a:ext cx="2251618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7575621" y="2443276"/>
            <a:ext cx="0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7575621" y="2443276"/>
            <a:ext cx="75053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7575621" y="2443276"/>
            <a:ext cx="150107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7575621" y="2443276"/>
            <a:ext cx="2251618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7575621" y="3944355"/>
            <a:ext cx="75053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7575621" y="3944355"/>
            <a:ext cx="150107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7575621" y="3944355"/>
            <a:ext cx="2251618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7575621" y="3944355"/>
            <a:ext cx="0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7575621" y="3944355"/>
            <a:ext cx="75053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7575621" y="3944355"/>
            <a:ext cx="150107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7575621" y="3944355"/>
            <a:ext cx="2251618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7575621" y="6946513"/>
            <a:ext cx="75053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7575621" y="6946513"/>
            <a:ext cx="1501079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7575621" y="6946513"/>
            <a:ext cx="2251618" cy="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7575621" y="6946513"/>
            <a:ext cx="0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7575621" y="6946513"/>
            <a:ext cx="75053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7575621" y="6946513"/>
            <a:ext cx="1501079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7575621" y="6946513"/>
            <a:ext cx="2251618" cy="750540"/>
          </a:xfrm>
          <a:prstGeom prst="line">
            <a:avLst/>
          </a:prstGeom>
          <a:ln w="2286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H="1">
            <a:off x="4830226" y="2884383"/>
            <a:ext cx="237013" cy="2133112"/>
          </a:xfrm>
          <a:prstGeom prst="line">
            <a:avLst/>
          </a:prstGeom>
          <a:ln w="19050">
            <a:solidFill>
              <a:srgbClr val="1E40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>
            <a:off x="4830226" y="2884383"/>
            <a:ext cx="237013" cy="4384731"/>
          </a:xfrm>
          <a:prstGeom prst="line">
            <a:avLst/>
          </a:prstGeom>
          <a:ln w="19050">
            <a:solidFill>
              <a:srgbClr val="1E40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5067239" y="2765877"/>
            <a:ext cx="3515685" cy="118506"/>
          </a:xfrm>
          <a:prstGeom prst="line">
            <a:avLst/>
          </a:prstGeom>
          <a:ln w="19050">
            <a:solidFill>
              <a:srgbClr val="1E40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5067239" y="2884383"/>
            <a:ext cx="3515685" cy="1382573"/>
          </a:xfrm>
          <a:prstGeom prst="line">
            <a:avLst/>
          </a:prstGeom>
          <a:ln w="19050">
            <a:solidFill>
              <a:srgbClr val="1E40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5067239" y="2884383"/>
            <a:ext cx="3515685" cy="4384731"/>
          </a:xfrm>
          <a:prstGeom prst="line">
            <a:avLst/>
          </a:prstGeom>
          <a:ln w="19050">
            <a:solidFill>
              <a:srgbClr val="1E40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Rounded Rectangle 376"/>
          <p:cNvSpPr/>
          <p:nvPr/>
        </p:nvSpPr>
        <p:spPr>
          <a:xfrm>
            <a:off x="1294790" y="10936224"/>
            <a:ext cx="276514" cy="197510"/>
          </a:xfrm>
          <a:prstGeom prst="roundRect">
            <a:avLst/>
          </a:prstGeom>
          <a:solidFill>
            <a:srgbClr val="E8ECF1"/>
          </a:solidFill>
          <a:ln w="13970">
            <a:solidFill>
              <a:srgbClr val="9BA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656892" y="10955975"/>
            <a:ext cx="1975104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onsolas"/>
              </a:rPr>
              <a:t>Tensix</a:t>
            </a:r>
          </a:p>
        </p:txBody>
      </p:sp>
      <p:sp>
        <p:nvSpPr>
          <p:cNvPr id="379" name="Rounded Rectangle 378"/>
          <p:cNvSpPr/>
          <p:nvPr/>
        </p:nvSpPr>
        <p:spPr>
          <a:xfrm>
            <a:off x="1294790" y="11232489"/>
            <a:ext cx="276514" cy="19751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656892" y="11252240"/>
            <a:ext cx="1975104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onsolas"/>
              </a:rPr>
              <a:t>Lane group core</a:t>
            </a:r>
          </a:p>
        </p:txBody>
      </p:sp>
      <p:sp>
        <p:nvSpPr>
          <p:cNvPr id="381" name="Rounded Rectangle 380"/>
          <p:cNvSpPr/>
          <p:nvPr/>
        </p:nvSpPr>
        <p:spPr>
          <a:xfrm>
            <a:off x="1294790" y="11528755"/>
            <a:ext cx="276514" cy="197510"/>
          </a:xfrm>
          <a:prstGeom prst="roundRect">
            <a:avLst/>
          </a:prstGeom>
          <a:solidFill>
            <a:srgbClr val="ECE5F3"/>
          </a:solidFill>
          <a:ln w="13970">
            <a:solidFill>
              <a:srgbClr val="8B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1656892" y="11548506"/>
            <a:ext cx="1975104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onsolas"/>
              </a:rPr>
              <a:t>DRAM endpoint</a:t>
            </a:r>
          </a:p>
        </p:txBody>
      </p:sp>
      <p:sp>
        <p:nvSpPr>
          <p:cNvPr id="383" name="Rounded Rectangle 382"/>
          <p:cNvSpPr/>
          <p:nvPr/>
        </p:nvSpPr>
        <p:spPr>
          <a:xfrm>
            <a:off x="1294790" y="11825020"/>
            <a:ext cx="276514" cy="19751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1656892" y="11844771"/>
            <a:ext cx="1975104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onsolas"/>
              </a:rPr>
              <a:t>Bound DRAM bank</a:t>
            </a:r>
          </a:p>
        </p:txBody>
      </p:sp>
      <p:sp>
        <p:nvSpPr>
          <p:cNvPr id="385" name="Rounded Rectangle 384"/>
          <p:cNvSpPr/>
          <p:nvPr/>
        </p:nvSpPr>
        <p:spPr>
          <a:xfrm>
            <a:off x="1294790" y="12121286"/>
            <a:ext cx="276514" cy="197510"/>
          </a:xfrm>
          <a:prstGeom prst="roundRect">
            <a:avLst/>
          </a:prstGeom>
          <a:solidFill>
            <a:srgbClr val="E3E9F0"/>
          </a:solidFill>
          <a:ln w="13970">
            <a:solidFill>
              <a:srgbClr val="7B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656892" y="12141037"/>
            <a:ext cx="1975104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onsolas"/>
              </a:rPr>
              <a:t>Ethernet</a:t>
            </a:r>
          </a:p>
        </p:txBody>
      </p:sp>
      <p:sp>
        <p:nvSpPr>
          <p:cNvPr id="387" name="Rounded Rectangle 386"/>
          <p:cNvSpPr/>
          <p:nvPr/>
        </p:nvSpPr>
        <p:spPr>
          <a:xfrm>
            <a:off x="1294790" y="12417552"/>
            <a:ext cx="276514" cy="197510"/>
          </a:xfrm>
          <a:prstGeom prst="roundRect">
            <a:avLst/>
          </a:prstGeom>
          <a:solidFill>
            <a:srgbClr val="E5E7EB"/>
          </a:solidFill>
          <a:ln w="13970">
            <a:solidFill>
              <a:srgbClr val="7F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1656892" y="12437303"/>
            <a:ext cx="1975104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onsolas"/>
              </a:rPr>
              <a:t>PCIe / Router / ARC</a:t>
            </a:r>
          </a:p>
        </p:txBody>
      </p:sp>
      <p:cxnSp>
        <p:nvCxnSpPr>
          <p:cNvPr id="389" name="Connector 388"/>
          <p:cNvCxnSpPr/>
          <p:nvPr/>
        </p:nvCxnSpPr>
        <p:spPr>
          <a:xfrm>
            <a:off x="5903366" y="11034979"/>
            <a:ext cx="513527" cy="0"/>
          </a:xfrm>
          <a:prstGeom prst="line">
            <a:avLst/>
          </a:prstGeom>
          <a:ln w="38100">
            <a:solidFill>
              <a:srgbClr val="1E40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/>
          <p:cNvSpPr txBox="1"/>
          <p:nvPr/>
        </p:nvSpPr>
        <p:spPr>
          <a:xfrm>
            <a:off x="6528816" y="10969142"/>
            <a:ext cx="3291839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E40AF"/>
                </a:solidFill>
                <a:latin typeface="Consolas"/>
              </a:rPr>
              <a:t>Track-wise Q distribution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5903366" y="11298326"/>
            <a:ext cx="513527" cy="0"/>
          </a:xfrm>
          <a:prstGeom prst="line">
            <a:avLst/>
          </a:prstGeom>
          <a:ln w="3810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TextBox 391"/>
          <p:cNvSpPr txBox="1"/>
          <p:nvPr/>
        </p:nvSpPr>
        <p:spPr>
          <a:xfrm>
            <a:off x="6528816" y="11232489"/>
            <a:ext cx="3291839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B91C1C"/>
                </a:solidFill>
                <a:latin typeface="Consolas"/>
              </a:rPr>
              <a:t>K chunk: DRAM bank → Lsrc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5903366" y="11561673"/>
            <a:ext cx="513527" cy="0"/>
          </a:xfrm>
          <a:prstGeom prst="line">
            <a:avLst/>
          </a:prstGeom>
          <a:ln w="38100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6528816" y="11495836"/>
            <a:ext cx="3291839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92400E"/>
                </a:solidFill>
                <a:latin typeface="Consolas"/>
              </a:rPr>
              <a:t>Lane-wise K broadcast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